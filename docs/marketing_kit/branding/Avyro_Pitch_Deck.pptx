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606" y="5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8C09-46F2-A83A-5644EFED348B}"/>
              </c:ext>
            </c:extLst>
          </c:dPt>
          <c:dPt>
            <c:idx val="1"/>
            <c:invertIfNegative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8C09-46F2-A83A-5644EFED348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CAC</c:v>
                </c:pt>
                <c:pt idx="1">
                  <c:v>LTV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115</c:v>
                </c:pt>
                <c:pt idx="1">
                  <c:v>348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C09-46F2-A83A-5644EFED348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38044416"/>
        <c:axId val="135036224"/>
      </c:barChart>
      <c:catAx>
        <c:axId val="13804441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uk-UA"/>
          </a:p>
        </c:txPr>
        <c:crossAx val="135036224"/>
        <c:crosses val="autoZero"/>
        <c:auto val="1"/>
        <c:lblAlgn val="ctr"/>
        <c:lblOffset val="100"/>
        <c:noMultiLvlLbl val="1"/>
      </c:catAx>
      <c:valAx>
        <c:axId val="135036224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uk-UA"/>
          </a:p>
        </c:txPr>
        <c:crossAx val="1380444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CDC02E-ED00-48FC-BBE1-E86B88F448FC}" type="datetimeFigureOut">
              <a:rPr lang="uk-UA" smtClean="0"/>
              <a:t>12.06.2026</a:t>
            </a:fld>
            <a:endParaRPr lang="uk-UA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277EFD-5000-420C-9BB8-6DF28EB5C5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29651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0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10" Type="http://schemas.openxmlformats.org/officeDocument/2006/relationships/image" Target="../media/image13.pn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0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0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9.png"/><Relationship Id="rId10" Type="http://schemas.openxmlformats.org/officeDocument/2006/relationships/image" Target="../media/image21.png"/><Relationship Id="rId4" Type="http://schemas.openxmlformats.org/officeDocument/2006/relationships/image" Target="../media/image1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11" Type="http://schemas.openxmlformats.org/officeDocument/2006/relationships/image" Target="../media/image20.png"/><Relationship Id="rId5" Type="http://schemas.openxmlformats.org/officeDocument/2006/relationships/image" Target="../media/image22.png"/><Relationship Id="rId10" Type="http://schemas.openxmlformats.org/officeDocument/2006/relationships/image" Target="../media/image26.png"/><Relationship Id="rId4" Type="http://schemas.openxmlformats.org/officeDocument/2006/relationships/image" Target="../media/image14.png"/><Relationship Id="rId9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пацієнти зникають — і як ми повертаємо їх назад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Avyro — твій медичний кабінет без черг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94960" cy="4480560"/>
          </a:xfrm>
          <a:prstGeom prst="roundRect">
            <a:avLst>
              <a:gd name="adj" fmla="val 2857"/>
            </a:avLst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blurRad="228600" dist="50800" dir="5400000" algn="bl" rotWithShape="0">
              <a:srgbClr val="1E293B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1945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2140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1508760" y="26974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людей ігнорують профілактичні огляди через брак мотивації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68680" y="3611880"/>
            <a:ext cx="4754880" cy="0"/>
          </a:xfrm>
          <a:prstGeom prst="line">
            <a:avLst/>
          </a:prstGeom>
          <a:noFill/>
          <a:ln w="9525">
            <a:solidFill>
              <a:srgbClr val="94A3B8">
                <a:alpha val="40000"/>
              </a:srgbClr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84048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376732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1508760" y="434340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доходу втрачають лікарі через те, що пацієнти не повертаються на повторні візити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68680" y="5257800"/>
            <a:ext cx="4754880" cy="0"/>
          </a:xfrm>
          <a:prstGeom prst="line">
            <a:avLst/>
          </a:prstGeom>
          <a:noFill/>
          <a:ln w="9525">
            <a:solidFill>
              <a:srgbClr val="94A3B8">
                <a:alpha val="40000"/>
              </a:srgbClr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48640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5413248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пацієнти хворіють сильніше, клініки втрачають прибуток, система охорони здоров'я перевантажена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626364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B5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263640" y="1874520"/>
            <a:ext cx="5394960" cy="4480560"/>
          </a:xfrm>
          <a:prstGeom prst="roundRect">
            <a:avLst>
              <a:gd name="adj" fmla="val 2857"/>
            </a:avLst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blurRad="228600" dist="508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6583680" y="21031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Avyro мотивує пацієнтів регулярно відвідувати лікаря через гейміфікацію профілактики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583680" y="2788920"/>
            <a:ext cx="4709160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7B51B3">
                <a:alpha val="30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6560" y="2898648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15200" y="278892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 до лікаря</a:t>
            </a:r>
            <a:endParaRPr lang="en-US" sz="135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8240" y="3355848"/>
            <a:ext cx="219456" cy="219456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6583680" y="3575304"/>
            <a:ext cx="4709160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7B51B3">
                <a:alpha val="30000"/>
              </a:srgbClr>
            </a:solidFill>
            <a:prstDash val="solid"/>
          </a:ln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6560" y="3685032"/>
            <a:ext cx="347472" cy="34747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315200" y="357530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Отримання балів за профогляд</a:t>
            </a:r>
            <a:endParaRPr lang="en-US" sz="135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8240" y="4142232"/>
            <a:ext cx="219456" cy="219456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6583680" y="4361688"/>
            <a:ext cx="4709160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7B51B3">
                <a:alpha val="30000"/>
              </a:srgbClr>
            </a:solidFill>
            <a:prstDash val="solid"/>
          </a:ln>
        </p:spPr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6560" y="4471416"/>
            <a:ext cx="347472" cy="347472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7315200" y="436168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Накопичення бонусів</a:t>
            </a:r>
            <a:endParaRPr lang="en-US" sz="135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8240" y="4928616"/>
            <a:ext cx="219456" cy="219456"/>
          </a:xfrm>
          <a:prstGeom prst="rect">
            <a:avLst/>
          </a:prstGeom>
        </p:spPr>
      </p:pic>
      <p:sp>
        <p:nvSpPr>
          <p:cNvPr id="31" name="Shape 20"/>
          <p:cNvSpPr/>
          <p:nvPr/>
        </p:nvSpPr>
        <p:spPr>
          <a:xfrm>
            <a:off x="6583680" y="5148072"/>
            <a:ext cx="4709160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7B51B3">
                <a:alpha val="30000"/>
              </a:srgbClr>
            </a:solidFill>
            <a:prstDash val="solid"/>
          </a:ln>
        </p:spPr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66560" y="5257800"/>
            <a:ext cx="347472" cy="347472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7315200" y="514807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Знижка на наступний візит</a:t>
            </a:r>
            <a:endParaRPr lang="en-US" sz="1350" dirty="0"/>
          </a:p>
        </p:txBody>
      </p:sp>
      <p:sp>
        <p:nvSpPr>
          <p:cNvPr id="34" name="Text 22"/>
          <p:cNvSpPr/>
          <p:nvPr/>
        </p:nvSpPr>
        <p:spPr>
          <a:xfrm>
            <a:off x="6583680" y="598017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B5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Профілактика стає вигідною звичкою, а не обов'язком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B5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SHOWCASE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дашборд — запис, прогрес і оплата в реальному часі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611880" cy="4480560"/>
          </a:xfrm>
          <a:prstGeom prst="roundRect">
            <a:avLst>
              <a:gd name="adj" fmla="val 3544"/>
            </a:avLst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blurRad="228600" dist="50800" dir="5400000" algn="bl" rotWithShape="0">
              <a:srgbClr val="1E293B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1031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2103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Calendar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17320" y="2423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Double-booking protected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2514600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Пн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289304" y="2514600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709928" y="2514600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130552" y="2514600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551176" y="2514600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Пт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971800" y="2514600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392424" y="2514600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Нд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68680" y="2834640"/>
            <a:ext cx="384048" cy="365760"/>
          </a:xfrm>
          <a:prstGeom prst="roundRect">
            <a:avLst>
              <a:gd name="adj" fmla="val 12500"/>
            </a:avLst>
          </a:prstGeom>
          <a:solidFill>
            <a:srgbClr val="FFFFFF">
              <a:alpha val="60000"/>
            </a:srgbClr>
          </a:solidFill>
          <a:ln w="635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" y="283464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1289304" y="2834640"/>
            <a:ext cx="384048" cy="365760"/>
          </a:xfrm>
          <a:prstGeom prst="roundRect">
            <a:avLst>
              <a:gd name="adj" fmla="val 12500"/>
            </a:avLst>
          </a:prstGeom>
          <a:solidFill>
            <a:srgbClr val="FFFFFF">
              <a:alpha val="60000"/>
            </a:srgbClr>
          </a:solidFill>
          <a:ln w="635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89304" y="283464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1709928" y="2834640"/>
            <a:ext cx="384048" cy="365760"/>
          </a:xfrm>
          <a:prstGeom prst="roundRect">
            <a:avLst>
              <a:gd name="adj" fmla="val 12500"/>
            </a:avLst>
          </a:prstGeom>
          <a:solidFill>
            <a:srgbClr val="FFFFFF">
              <a:alpha val="60000"/>
            </a:srgbClr>
          </a:solidFill>
          <a:ln w="635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709928" y="283464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130552" y="2834640"/>
            <a:ext cx="384048" cy="365760"/>
          </a:xfrm>
          <a:prstGeom prst="roundRect">
            <a:avLst>
              <a:gd name="adj" fmla="val 12500"/>
            </a:avLst>
          </a:prstGeom>
          <a:solidFill>
            <a:srgbClr val="FFFFFF">
              <a:alpha val="60000"/>
            </a:srgbClr>
          </a:solidFill>
          <a:ln w="635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130552" y="283464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2551176" y="2834640"/>
            <a:ext cx="384048" cy="365760"/>
          </a:xfrm>
          <a:prstGeom prst="roundRect">
            <a:avLst>
              <a:gd name="adj" fmla="val 12500"/>
            </a:avLst>
          </a:prstGeom>
          <a:solidFill>
            <a:srgbClr val="FFFFFF">
              <a:alpha val="60000"/>
            </a:srgbClr>
          </a:solidFill>
          <a:ln w="635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551176" y="283464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971800" y="2834640"/>
            <a:ext cx="384048" cy="365760"/>
          </a:xfrm>
          <a:prstGeom prst="roundRect">
            <a:avLst>
              <a:gd name="adj" fmla="val 12500"/>
            </a:avLst>
          </a:prstGeom>
          <a:solidFill>
            <a:srgbClr val="FFFFFF">
              <a:alpha val="60000"/>
            </a:srgbClr>
          </a:solidFill>
          <a:ln w="635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971800" y="283464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3392424" y="2834640"/>
            <a:ext cx="384048" cy="365760"/>
          </a:xfrm>
          <a:prstGeom prst="roundRect">
            <a:avLst>
              <a:gd name="adj" fmla="val 12500"/>
            </a:avLst>
          </a:prstGeom>
          <a:solidFill>
            <a:srgbClr val="FFFFFF">
              <a:alpha val="60000"/>
            </a:srgbClr>
          </a:solidFill>
          <a:ln w="635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392424" y="283464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868680" y="3255264"/>
            <a:ext cx="384048" cy="365760"/>
          </a:xfrm>
          <a:prstGeom prst="roundRect">
            <a:avLst>
              <a:gd name="adj" fmla="val 12500"/>
            </a:avLst>
          </a:prstGeom>
          <a:solidFill>
            <a:srgbClr val="FFFFFF">
              <a:alpha val="60000"/>
            </a:srgbClr>
          </a:solidFill>
          <a:ln w="635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68680" y="325526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1289304" y="3255264"/>
            <a:ext cx="384048" cy="365760"/>
          </a:xfrm>
          <a:prstGeom prst="roundRect">
            <a:avLst>
              <a:gd name="adj" fmla="val 12500"/>
            </a:avLst>
          </a:prstGeom>
          <a:solidFill>
            <a:srgbClr val="FFFFFF">
              <a:alpha val="60000"/>
            </a:srgbClr>
          </a:solidFill>
          <a:ln w="635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289304" y="325526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1709928" y="3255264"/>
            <a:ext cx="384048" cy="365760"/>
          </a:xfrm>
          <a:prstGeom prst="roundRect">
            <a:avLst>
              <a:gd name="adj" fmla="val 12500"/>
            </a:avLst>
          </a:prstGeom>
          <a:solidFill>
            <a:srgbClr val="7B51B3">
              <a:alpha val="90000"/>
            </a:srgbClr>
          </a:solidFill>
          <a:ln w="635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709928" y="325526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2130552" y="3255264"/>
            <a:ext cx="384048" cy="365760"/>
          </a:xfrm>
          <a:prstGeom prst="roundRect">
            <a:avLst>
              <a:gd name="adj" fmla="val 12500"/>
            </a:avLst>
          </a:prstGeom>
          <a:solidFill>
            <a:srgbClr val="FFFFFF">
              <a:alpha val="60000"/>
            </a:srgbClr>
          </a:solidFill>
          <a:ln w="635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130552" y="325526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2551176" y="3255264"/>
            <a:ext cx="384048" cy="365760"/>
          </a:xfrm>
          <a:prstGeom prst="roundRect">
            <a:avLst>
              <a:gd name="adj" fmla="val 12500"/>
            </a:avLst>
          </a:prstGeom>
          <a:solidFill>
            <a:srgbClr val="7B51B3">
              <a:alpha val="90000"/>
            </a:srgbClr>
          </a:solidFill>
          <a:ln w="635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551176" y="325526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2971800" y="3255264"/>
            <a:ext cx="384048" cy="365760"/>
          </a:xfrm>
          <a:prstGeom prst="roundRect">
            <a:avLst>
              <a:gd name="adj" fmla="val 12500"/>
            </a:avLst>
          </a:prstGeom>
          <a:solidFill>
            <a:srgbClr val="FFFFFF">
              <a:alpha val="60000"/>
            </a:srgbClr>
          </a:solidFill>
          <a:ln w="635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2971800" y="325526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3392424" y="3255264"/>
            <a:ext cx="384048" cy="365760"/>
          </a:xfrm>
          <a:prstGeom prst="roundRect">
            <a:avLst>
              <a:gd name="adj" fmla="val 12500"/>
            </a:avLst>
          </a:prstGeom>
          <a:solidFill>
            <a:srgbClr val="FFFFFF">
              <a:alpha val="60000"/>
            </a:srgbClr>
          </a:solidFill>
          <a:ln w="635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392424" y="325526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868680" y="3675888"/>
            <a:ext cx="384048" cy="365760"/>
          </a:xfrm>
          <a:prstGeom prst="roundRect">
            <a:avLst>
              <a:gd name="adj" fmla="val 12500"/>
            </a:avLst>
          </a:prstGeom>
          <a:solidFill>
            <a:srgbClr val="FFFFFF">
              <a:alpha val="60000"/>
            </a:srgbClr>
          </a:solidFill>
          <a:ln w="635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68680" y="367588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1289304" y="3675888"/>
            <a:ext cx="384048" cy="365760"/>
          </a:xfrm>
          <a:prstGeom prst="roundRect">
            <a:avLst>
              <a:gd name="adj" fmla="val 12500"/>
            </a:avLst>
          </a:prstGeom>
          <a:solidFill>
            <a:srgbClr val="7B51B3">
              <a:alpha val="90000"/>
            </a:srgbClr>
          </a:solidFill>
          <a:ln w="635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289304" y="367588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1709928" y="3675888"/>
            <a:ext cx="384048" cy="365760"/>
          </a:xfrm>
          <a:prstGeom prst="roundRect">
            <a:avLst>
              <a:gd name="adj" fmla="val 12500"/>
            </a:avLst>
          </a:prstGeom>
          <a:solidFill>
            <a:srgbClr val="FFFFFF">
              <a:alpha val="60000"/>
            </a:srgbClr>
          </a:solidFill>
          <a:ln w="635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709928" y="367588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2130552" y="3675888"/>
            <a:ext cx="384048" cy="365760"/>
          </a:xfrm>
          <a:prstGeom prst="roundRect">
            <a:avLst>
              <a:gd name="adj" fmla="val 12500"/>
            </a:avLst>
          </a:prstGeom>
          <a:solidFill>
            <a:srgbClr val="FFFFFF">
              <a:alpha val="60000"/>
            </a:srgbClr>
          </a:solidFill>
          <a:ln w="635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2130552" y="367588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2551176" y="3675888"/>
            <a:ext cx="384048" cy="365760"/>
          </a:xfrm>
          <a:prstGeom prst="roundRect">
            <a:avLst>
              <a:gd name="adj" fmla="val 12500"/>
            </a:avLst>
          </a:prstGeom>
          <a:solidFill>
            <a:srgbClr val="FFFFFF">
              <a:alpha val="60000"/>
            </a:srgbClr>
          </a:solidFill>
          <a:ln w="635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2551176" y="367588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2971800" y="3675888"/>
            <a:ext cx="384048" cy="365760"/>
          </a:xfrm>
          <a:prstGeom prst="roundRect">
            <a:avLst>
              <a:gd name="adj" fmla="val 12500"/>
            </a:avLst>
          </a:prstGeom>
          <a:solidFill>
            <a:srgbClr val="FFFFFF">
              <a:alpha val="60000"/>
            </a:srgbClr>
          </a:solidFill>
          <a:ln w="635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2971800" y="367588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3392424" y="3675888"/>
            <a:ext cx="384048" cy="365760"/>
          </a:xfrm>
          <a:prstGeom prst="roundRect">
            <a:avLst>
              <a:gd name="adj" fmla="val 12500"/>
            </a:avLst>
          </a:prstGeom>
          <a:solidFill>
            <a:srgbClr val="FFFFFF">
              <a:alpha val="60000"/>
            </a:srgbClr>
          </a:solidFill>
          <a:ln w="635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3392424" y="367588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pic>
        <p:nvPicPr>
          <p:cNvPr id="5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251960"/>
            <a:ext cx="292608" cy="292608"/>
          </a:xfrm>
          <a:prstGeom prst="rect">
            <a:avLst/>
          </a:prstGeom>
        </p:spPr>
      </p:pic>
      <p:sp>
        <p:nvSpPr>
          <p:cNvPr id="58" name="Text 54"/>
          <p:cNvSpPr/>
          <p:nvPr/>
        </p:nvSpPr>
        <p:spPr>
          <a:xfrm>
            <a:off x="1234440" y="4251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Конфлікти запису блокуються автоматично</a:t>
            </a:r>
            <a:endParaRPr lang="en-US" sz="1050" dirty="0"/>
          </a:p>
        </p:txBody>
      </p:sp>
      <p:sp>
        <p:nvSpPr>
          <p:cNvPr id="59" name="Shape 55"/>
          <p:cNvSpPr/>
          <p:nvPr/>
        </p:nvSpPr>
        <p:spPr>
          <a:xfrm>
            <a:off x="4343400" y="1874520"/>
            <a:ext cx="3611880" cy="4480560"/>
          </a:xfrm>
          <a:prstGeom prst="roundRect">
            <a:avLst>
              <a:gd name="adj" fmla="val 3544"/>
            </a:avLst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blurRad="228600" dist="50800" dir="5400000" algn="bl" rotWithShape="0">
              <a:srgbClr val="1E293B">
                <a:alpha val="10000"/>
              </a:srgbClr>
            </a:outerShdw>
          </a:effectLst>
        </p:spPr>
      </p:sp>
      <p:pic>
        <p:nvPicPr>
          <p:cNvPr id="6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2103120"/>
            <a:ext cx="457200" cy="457200"/>
          </a:xfrm>
          <a:prstGeom prst="rect">
            <a:avLst/>
          </a:prstGeom>
        </p:spPr>
      </p:pic>
      <p:sp>
        <p:nvSpPr>
          <p:cNvPr id="61" name="Text 56"/>
          <p:cNvSpPr/>
          <p:nvPr/>
        </p:nvSpPr>
        <p:spPr>
          <a:xfrm>
            <a:off x="5212080" y="2103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Dashboard</a:t>
            </a:r>
            <a:endParaRPr lang="en-US" sz="1600" dirty="0"/>
          </a:p>
        </p:txBody>
      </p:sp>
      <p:sp>
        <p:nvSpPr>
          <p:cNvPr id="62" name="Text 57"/>
          <p:cNvSpPr/>
          <p:nvPr/>
        </p:nvSpPr>
        <p:spPr>
          <a:xfrm>
            <a:off x="5212080" y="2423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Бали за профілактику</a:t>
            </a:r>
            <a:endParaRPr lang="en-US" sz="1100" dirty="0"/>
          </a:p>
        </p:txBody>
      </p:sp>
      <p:sp>
        <p:nvSpPr>
          <p:cNvPr id="63" name="Text 58"/>
          <p:cNvSpPr/>
          <p:nvPr/>
        </p:nvSpPr>
        <p:spPr>
          <a:xfrm>
            <a:off x="4617720" y="2743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Journey</a:t>
            </a:r>
            <a:endParaRPr lang="en-US" sz="1200" dirty="0"/>
          </a:p>
        </p:txBody>
      </p:sp>
      <p:sp>
        <p:nvSpPr>
          <p:cNvPr id="64" name="Shape 59"/>
          <p:cNvSpPr/>
          <p:nvPr/>
        </p:nvSpPr>
        <p:spPr>
          <a:xfrm>
            <a:off x="4617720" y="3154680"/>
            <a:ext cx="2926080" cy="20116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65" name="Shape 60"/>
          <p:cNvSpPr/>
          <p:nvPr/>
        </p:nvSpPr>
        <p:spPr>
          <a:xfrm>
            <a:off x="4617720" y="3154680"/>
            <a:ext cx="1920240" cy="201168"/>
          </a:xfrm>
          <a:prstGeom prst="roundRect">
            <a:avLst>
              <a:gd name="adj" fmla="val 50000"/>
            </a:avLst>
          </a:prstGeom>
          <a:solidFill>
            <a:srgbClr val="7B51B3"/>
          </a:solidFill>
          <a:ln/>
        </p:spPr>
      </p:sp>
      <p:sp>
        <p:nvSpPr>
          <p:cNvPr id="66" name="Text 61"/>
          <p:cNvSpPr/>
          <p:nvPr/>
        </p:nvSpPr>
        <p:spPr>
          <a:xfrm>
            <a:off x="4617720" y="3429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680 / 1000 балів</a:t>
            </a:r>
            <a:endParaRPr lang="en-US" sz="1050" dirty="0"/>
          </a:p>
        </p:txBody>
      </p:sp>
      <p:sp>
        <p:nvSpPr>
          <p:cNvPr id="67" name="Shape 62"/>
          <p:cNvSpPr/>
          <p:nvPr/>
        </p:nvSpPr>
        <p:spPr>
          <a:xfrm>
            <a:off x="4617720" y="3931920"/>
            <a:ext cx="640080" cy="640080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7B51B3">
                <a:alpha val="40000"/>
              </a:srgbClr>
            </a:solidFill>
            <a:prstDash val="solid"/>
          </a:ln>
        </p:spPr>
      </p:sp>
      <p:pic>
        <p:nvPicPr>
          <p:cNvPr id="68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2312" y="4096512"/>
            <a:ext cx="310896" cy="310896"/>
          </a:xfrm>
          <a:prstGeom prst="rect">
            <a:avLst/>
          </a:prstGeom>
        </p:spPr>
      </p:pic>
      <p:sp>
        <p:nvSpPr>
          <p:cNvPr id="69" name="Text 63"/>
          <p:cNvSpPr/>
          <p:nvPr/>
        </p:nvSpPr>
        <p:spPr>
          <a:xfrm>
            <a:off x="4480560" y="4617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Огляд</a:t>
            </a:r>
            <a:endParaRPr lang="en-US" sz="900" dirty="0"/>
          </a:p>
        </p:txBody>
      </p:sp>
      <p:sp>
        <p:nvSpPr>
          <p:cNvPr id="70" name="Shape 64"/>
          <p:cNvSpPr/>
          <p:nvPr/>
        </p:nvSpPr>
        <p:spPr>
          <a:xfrm>
            <a:off x="5623560" y="3931920"/>
            <a:ext cx="640080" cy="640080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7B51B3">
                <a:alpha val="40000"/>
              </a:srgbClr>
            </a:solidFill>
            <a:prstDash val="solid"/>
          </a:ln>
        </p:spPr>
      </p:sp>
      <p:pic>
        <p:nvPicPr>
          <p:cNvPr id="7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8152" y="4096512"/>
            <a:ext cx="310896" cy="310896"/>
          </a:xfrm>
          <a:prstGeom prst="rect">
            <a:avLst/>
          </a:prstGeom>
        </p:spPr>
      </p:pic>
      <p:sp>
        <p:nvSpPr>
          <p:cNvPr id="72" name="Text 65"/>
          <p:cNvSpPr/>
          <p:nvPr/>
        </p:nvSpPr>
        <p:spPr>
          <a:xfrm>
            <a:off x="5486400" y="4617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Рівень 3</a:t>
            </a:r>
            <a:endParaRPr lang="en-US" sz="900" dirty="0"/>
          </a:p>
        </p:txBody>
      </p:sp>
      <p:sp>
        <p:nvSpPr>
          <p:cNvPr id="73" name="Shape 66"/>
          <p:cNvSpPr/>
          <p:nvPr/>
        </p:nvSpPr>
        <p:spPr>
          <a:xfrm>
            <a:off x="6629400" y="3931920"/>
            <a:ext cx="640080" cy="640080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7B51B3">
                <a:alpha val="40000"/>
              </a:srgbClr>
            </a:solidFill>
            <a:prstDash val="solid"/>
          </a:ln>
        </p:spPr>
      </p:sp>
      <p:pic>
        <p:nvPicPr>
          <p:cNvPr id="7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3992" y="4096512"/>
            <a:ext cx="310896" cy="310896"/>
          </a:xfrm>
          <a:prstGeom prst="rect">
            <a:avLst/>
          </a:prstGeom>
        </p:spPr>
      </p:pic>
      <p:sp>
        <p:nvSpPr>
          <p:cNvPr id="75" name="Text 67"/>
          <p:cNvSpPr/>
          <p:nvPr/>
        </p:nvSpPr>
        <p:spPr>
          <a:xfrm>
            <a:off x="6492240" y="4617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Бонус</a:t>
            </a:r>
            <a:endParaRPr lang="en-US" sz="900" dirty="0"/>
          </a:p>
        </p:txBody>
      </p:sp>
      <p:sp>
        <p:nvSpPr>
          <p:cNvPr id="76" name="Shape 68"/>
          <p:cNvSpPr/>
          <p:nvPr/>
        </p:nvSpPr>
        <p:spPr>
          <a:xfrm>
            <a:off x="8138160" y="1874520"/>
            <a:ext cx="3611880" cy="4480560"/>
          </a:xfrm>
          <a:prstGeom prst="roundRect">
            <a:avLst>
              <a:gd name="adj" fmla="val 3544"/>
            </a:avLst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blurRad="228600" dist="50800" dir="5400000" algn="bl" rotWithShape="0">
              <a:srgbClr val="1E293B">
                <a:alpha val="10000"/>
              </a:srgbClr>
            </a:outerShdw>
          </a:effectLst>
        </p:spPr>
      </p:sp>
      <p:pic>
        <p:nvPicPr>
          <p:cNvPr id="7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58200" y="2103120"/>
            <a:ext cx="457200" cy="457200"/>
          </a:xfrm>
          <a:prstGeom prst="rect">
            <a:avLst/>
          </a:prstGeom>
        </p:spPr>
      </p:pic>
      <p:sp>
        <p:nvSpPr>
          <p:cNvPr id="78" name="Text 69"/>
          <p:cNvSpPr/>
          <p:nvPr/>
        </p:nvSpPr>
        <p:spPr>
          <a:xfrm>
            <a:off x="9006840" y="2103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Checkout</a:t>
            </a:r>
            <a:endParaRPr lang="en-US" sz="1600" dirty="0"/>
          </a:p>
        </p:txBody>
      </p:sp>
      <p:sp>
        <p:nvSpPr>
          <p:cNvPr id="79" name="Text 70"/>
          <p:cNvSpPr/>
          <p:nvPr/>
        </p:nvSpPr>
        <p:spPr>
          <a:xfrm>
            <a:off x="9006840" y="2423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Integration</a:t>
            </a:r>
            <a:endParaRPr lang="en-US" sz="1100" dirty="0"/>
          </a:p>
        </p:txBody>
      </p:sp>
      <p:sp>
        <p:nvSpPr>
          <p:cNvPr id="80" name="Shape 71"/>
          <p:cNvSpPr/>
          <p:nvPr/>
        </p:nvSpPr>
        <p:spPr>
          <a:xfrm>
            <a:off x="8366760" y="2788920"/>
            <a:ext cx="2971800" cy="1417320"/>
          </a:xfrm>
          <a:prstGeom prst="roundRect">
            <a:avLst>
              <a:gd name="adj" fmla="val 6452"/>
            </a:avLst>
          </a:prstGeom>
          <a:solidFill>
            <a:srgbClr val="7B51B3">
              <a:alpha val="92000"/>
            </a:srgbClr>
          </a:solidFill>
          <a:ln/>
        </p:spPr>
      </p:sp>
      <p:sp>
        <p:nvSpPr>
          <p:cNvPr id="81" name="Text 72"/>
          <p:cNvSpPr/>
          <p:nvPr/>
        </p:nvSpPr>
        <p:spPr>
          <a:xfrm>
            <a:off x="8595360" y="3520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•••• •••• •••• 4242</a:t>
            </a:r>
            <a:endParaRPr lang="en-US" sz="1400" dirty="0"/>
          </a:p>
        </p:txBody>
      </p:sp>
      <p:sp>
        <p:nvSpPr>
          <p:cNvPr id="82" name="Text 73"/>
          <p:cNvSpPr/>
          <p:nvPr/>
        </p:nvSpPr>
        <p:spPr>
          <a:xfrm>
            <a:off x="8595360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AVYRO PAY</a:t>
            </a:r>
            <a:endParaRPr lang="en-US" sz="1000" dirty="0"/>
          </a:p>
        </p:txBody>
      </p:sp>
      <p:pic>
        <p:nvPicPr>
          <p:cNvPr id="83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98480" y="3977640"/>
            <a:ext cx="411480" cy="292608"/>
          </a:xfrm>
          <a:prstGeom prst="rect">
            <a:avLst/>
          </a:prstGeom>
        </p:spPr>
      </p:pic>
      <p:sp>
        <p:nvSpPr>
          <p:cNvPr id="84" name="Text 74"/>
          <p:cNvSpPr/>
          <p:nvPr/>
        </p:nvSpPr>
        <p:spPr>
          <a:xfrm>
            <a:off x="8366760" y="4389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Сума до оплати</a:t>
            </a:r>
            <a:endParaRPr lang="en-US" sz="1050" dirty="0"/>
          </a:p>
        </p:txBody>
      </p:sp>
      <p:sp>
        <p:nvSpPr>
          <p:cNvPr id="85" name="Text 75"/>
          <p:cNvSpPr/>
          <p:nvPr/>
        </p:nvSpPr>
        <p:spPr>
          <a:xfrm>
            <a:off x="8366760" y="4617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$45.00</a:t>
            </a:r>
            <a:endParaRPr lang="en-US" sz="2200" dirty="0"/>
          </a:p>
        </p:txBody>
      </p:sp>
      <p:pic>
        <p:nvPicPr>
          <p:cNvPr id="86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8400" y="4663440"/>
            <a:ext cx="292608" cy="292608"/>
          </a:xfrm>
          <a:prstGeom prst="rect">
            <a:avLst/>
          </a:prstGeom>
        </p:spPr>
      </p:pic>
      <p:sp>
        <p:nvSpPr>
          <p:cNvPr id="87" name="Text 76"/>
          <p:cNvSpPr/>
          <p:nvPr/>
        </p:nvSpPr>
        <p:spPr>
          <a:xfrm>
            <a:off x="10058400" y="4983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-15% (бонуси)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B5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</a:t>
            </a:r>
            <a:r>
              <a:rPr lang="en-US" sz="28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дна</a:t>
            </a: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екосистема профілактики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192986" y="1470948"/>
            <a:ext cx="5486400" cy="4572000"/>
          </a:xfrm>
          <a:prstGeom prst="roundRect">
            <a:avLst>
              <a:gd name="adj" fmla="val 2800"/>
            </a:avLst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blurRad="228600" dist="508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uk-UA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4446" y="1618734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046838" y="161873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B5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3333235" y="2011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Пацієнти, які цінують зручність і вигоду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284426" y="2443177"/>
            <a:ext cx="548640" cy="548640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7B51B3">
                <a:alpha val="35000"/>
              </a:srgbClr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1586" y="256032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47366" y="24003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Millennials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947366" y="2740357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Активні користувачі мобільних застосунків, орієнтовані на здоровий спосіб життя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314700" y="3270216"/>
            <a:ext cx="548640" cy="548640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7B51B3">
                <a:alpha val="35000"/>
              </a:srgbClr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1860" y="3407376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47366" y="32872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Зумери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3977640" y="3460757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Цифрові носії, очікують миттєвого запису та геймифікованого досвіду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3333235" y="4056847"/>
            <a:ext cx="548640" cy="548640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7B51B3">
                <a:alpha val="35000"/>
              </a:srgbClr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0395" y="4194007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947366" y="406895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Зайняті батьки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3947366" y="4206734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Цінують економію часу та автоматизацію медичних візитів родини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314700" y="4923920"/>
            <a:ext cx="548640" cy="548640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7B51B3">
                <a:alpha val="35000"/>
              </a:srgbClr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63599" y="5061080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947366" y="4978043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Value-Oriented Users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3931920" y="519824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Шукають реальну фінансову вигоду від турботи про здоров'я</a:t>
            </a:r>
            <a:endParaRPr lang="en-US" sz="1100" dirty="0"/>
          </a:p>
        </p:txBody>
      </p:sp>
      <p:sp>
        <p:nvSpPr>
          <p:cNvPr id="26" name="Text 18"/>
          <p:cNvSpPr/>
          <p:nvPr/>
        </p:nvSpPr>
        <p:spPr>
          <a:xfrm>
            <a:off x="708660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30" name="Text 21"/>
          <p:cNvSpPr/>
          <p:nvPr/>
        </p:nvSpPr>
        <p:spPr>
          <a:xfrm>
            <a:off x="7223760" y="29992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1" name="Text 22"/>
          <p:cNvSpPr/>
          <p:nvPr/>
        </p:nvSpPr>
        <p:spPr>
          <a:xfrm>
            <a:off x="7223760" y="331012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5" name="Text 25"/>
          <p:cNvSpPr/>
          <p:nvPr/>
        </p:nvSpPr>
        <p:spPr>
          <a:xfrm>
            <a:off x="7223760" y="4151376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8" name="Text 27"/>
          <p:cNvSpPr/>
          <p:nvPr/>
        </p:nvSpPr>
        <p:spPr>
          <a:xfrm>
            <a:off x="7223760" y="46817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9" name="Text 28"/>
          <p:cNvSpPr/>
          <p:nvPr/>
        </p:nvSpPr>
        <p:spPr>
          <a:xfrm>
            <a:off x="7223760" y="4992624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0" name="Text 29"/>
          <p:cNvSpPr/>
          <p:nvPr/>
        </p:nvSpPr>
        <p:spPr>
          <a:xfrm>
            <a:off x="6513246" y="6263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B5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Win-win: пацієнти отримують вигоду, заклади — лояльність і прогнозований дохід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B5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+ Transaction Fee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потоки доходу, що масштабуються разом з мережею клінік і пацієнтів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611880" cy="2651760"/>
          </a:xfrm>
          <a:prstGeom prst="roundRect">
            <a:avLst>
              <a:gd name="adj" fmla="val 4828"/>
            </a:avLst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blurRad="228600" dist="50800" dir="5400000" algn="bl" rotWithShape="0">
              <a:srgbClr val="1E293B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2402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194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Plan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17320" y="2514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Пацієнти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" y="29718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B5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68680" y="36576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Безкоштовний доступ для пацієнтів: запис, гейміфікація, бали лояльності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43400" y="1965960"/>
            <a:ext cx="3611880" cy="2651760"/>
          </a:xfrm>
          <a:prstGeom prst="roundRect">
            <a:avLst>
              <a:gd name="adj" fmla="val 4828"/>
            </a:avLst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blurRad="228600" dist="50800" dir="5400000" algn="bl" rotWithShape="0">
              <a:srgbClr val="1E293B">
                <a:alpha val="10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22402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12080" y="2194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Plan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212080" y="2514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Лікарі та клініки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663440" y="29718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B5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міс</a:t>
            </a:r>
            <a:endParaRPr lang="en-US" sz="3600" dirty="0"/>
          </a:p>
        </p:txBody>
      </p:sp>
      <p:sp>
        <p:nvSpPr>
          <p:cNvPr id="16" name="Text 12"/>
          <p:cNvSpPr/>
          <p:nvPr/>
        </p:nvSpPr>
        <p:spPr>
          <a:xfrm>
            <a:off x="4663440" y="36576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Підписка для медичних закладів: аналітика, CRM пацієнтів, автоматизація нагадувань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138160" y="1965960"/>
            <a:ext cx="3611880" cy="2651760"/>
          </a:xfrm>
          <a:prstGeom prst="roundRect">
            <a:avLst>
              <a:gd name="adj" fmla="val 4828"/>
            </a:avLst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blurRad="228600" dist="50800" dir="5400000" algn="bl" rotWithShape="0">
              <a:srgbClr val="1E293B">
                <a:alpha val="10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224028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06840" y="2194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Fee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9006840" y="2514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Платежі через платформу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458200" y="29718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B5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2.5%</a:t>
            </a:r>
            <a:endParaRPr lang="en-US" sz="3600" dirty="0"/>
          </a:p>
        </p:txBody>
      </p:sp>
      <p:sp>
        <p:nvSpPr>
          <p:cNvPr id="22" name="Text 17"/>
          <p:cNvSpPr/>
          <p:nvPr/>
        </p:nvSpPr>
        <p:spPr>
          <a:xfrm>
            <a:off x="8458200" y="36576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Комісія з кожної онлайн-оплати медичних послуг через Avyro Pay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548640" y="4846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B5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FLOW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48640" y="5212080"/>
            <a:ext cx="11109960" cy="1280160"/>
          </a:xfrm>
          <a:prstGeom prst="roundRect">
            <a:avLst>
              <a:gd name="adj" fmla="val 10000"/>
            </a:avLst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blurRad="228600" dist="508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68680" y="5486400"/>
            <a:ext cx="502920" cy="502920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7B51B3">
                <a:alpha val="3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5605272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02920" y="6035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Пацієнт записується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проходить огляд</a:t>
            </a:r>
            <a:endParaRPr lang="en-US" sz="95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3040" y="5605272"/>
            <a:ext cx="256032" cy="256032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2990088" y="5486400"/>
            <a:ext cx="502920" cy="502920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7B51B3">
                <a:alpha val="35000"/>
              </a:srgbClr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8960" y="5605272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2624328" y="6035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Отримує бали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бонуси</a:t>
            </a:r>
            <a:endParaRPr lang="en-US" sz="95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4448" y="5605272"/>
            <a:ext cx="256032" cy="256032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5111496" y="5486400"/>
            <a:ext cx="502920" cy="502920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7B51B3">
                <a:alpha val="35000"/>
              </a:srgbClr>
            </a:solidFill>
            <a:prstDash val="solid"/>
          </a:ln>
        </p:spPr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0368" y="5605272"/>
            <a:ext cx="274320" cy="27432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4745736" y="6035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Оплачує послугу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(–2.5% комісія Avyro)</a:t>
            </a:r>
            <a:endParaRPr lang="en-US" sz="950" dirty="0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05856" y="5605272"/>
            <a:ext cx="256032" cy="256032"/>
          </a:xfrm>
          <a:prstGeom prst="rect">
            <a:avLst/>
          </a:prstGeom>
        </p:spPr>
      </p:pic>
      <p:sp>
        <p:nvSpPr>
          <p:cNvPr id="37" name="Shape 26"/>
          <p:cNvSpPr/>
          <p:nvPr/>
        </p:nvSpPr>
        <p:spPr>
          <a:xfrm>
            <a:off x="7232904" y="5486400"/>
            <a:ext cx="502920" cy="502920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7B51B3">
                <a:alpha val="35000"/>
              </a:srgbClr>
            </a:solidFill>
            <a:prstDash val="solid"/>
          </a:ln>
        </p:spPr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1776" y="5605272"/>
            <a:ext cx="274320" cy="274320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6867144" y="6035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Клініка отримує дохід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 Plan $29/міс</a:t>
            </a:r>
            <a:endParaRPr lang="en-US" sz="950" dirty="0"/>
          </a:p>
        </p:txBody>
      </p:sp>
      <p:pic>
        <p:nvPicPr>
          <p:cNvPr id="40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7264" y="5605272"/>
            <a:ext cx="256032" cy="256032"/>
          </a:xfrm>
          <a:prstGeom prst="rect">
            <a:avLst/>
          </a:prstGeom>
        </p:spPr>
      </p:pic>
      <p:sp>
        <p:nvSpPr>
          <p:cNvPr id="41" name="Shape 28"/>
          <p:cNvSpPr/>
          <p:nvPr/>
        </p:nvSpPr>
        <p:spPr>
          <a:xfrm>
            <a:off x="9354312" y="5486400"/>
            <a:ext cx="502920" cy="502920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7B51B3">
                <a:alpha val="35000"/>
              </a:srgbClr>
            </a:solidFill>
            <a:prstDash val="solid"/>
          </a:ln>
        </p:spPr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73184" y="5605272"/>
            <a:ext cx="274320" cy="274320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8988552" y="6035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Avyro отримує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комбінований дохід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B5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&amp; TECH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Економічно ефективне залучення на надійній технологічній основі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B5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486400" cy="4434840"/>
          </a:xfrm>
          <a:prstGeom prst="roundRect">
            <a:avLst>
              <a:gd name="adj" fmla="val 2887"/>
            </a:avLst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blurRad="228600" dist="508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331720"/>
            <a:ext cx="502920" cy="502920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7B51B3">
                <a:alpha val="3500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245059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3134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Communities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08760" y="262432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Партнерства з лікарськими спільнотами та профасоціаціями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68680" y="3200400"/>
            <a:ext cx="502920" cy="502920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7B51B3">
                <a:alpha val="35000"/>
              </a:srgbClr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331927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31821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Content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508760" y="349300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про профілактику здоров'я для органічного трафіку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868680" y="4160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vs LTV</a:t>
            </a:r>
            <a:endParaRPr lang="en-US" sz="13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777240" y="4526280"/>
          <a:ext cx="512064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6" name="Text 11"/>
          <p:cNvSpPr/>
          <p:nvPr/>
        </p:nvSpPr>
        <p:spPr>
          <a:xfrm>
            <a:off x="868680" y="6309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B5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перевищує CAC у ~3 рази — здорова юніт-економіка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17220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B5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ADVANTAGE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172200" y="2057400"/>
            <a:ext cx="5486400" cy="4434840"/>
          </a:xfrm>
          <a:prstGeom prst="roundRect">
            <a:avLst>
              <a:gd name="adj" fmla="val 2887"/>
            </a:avLst>
          </a:prstGeom>
          <a:solidFill>
            <a:srgbClr val="FFFFFF">
              <a:alpha val="78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blurRad="228600" dist="508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92240" y="2331720"/>
            <a:ext cx="502920" cy="502920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7B51B3">
                <a:alpha val="35000"/>
              </a:srgbClr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1112" y="2450592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32320" y="23134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Monolith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7132320" y="26243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Гнучка архітектура для швидкого масштабування продукту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6492240" y="3118104"/>
            <a:ext cx="502920" cy="502920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7B51B3">
                <a:alpha val="35000"/>
              </a:srgbClr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1112" y="3236976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132320" y="309981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7132320" y="34107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Високопродуктивний бекенд для медичних та платіжних API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6492240" y="3904488"/>
            <a:ext cx="502920" cy="502920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7B51B3">
                <a:alpha val="3500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1112" y="4023360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132320" y="3886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7132320" y="419709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Швидкий, синхронізований UI без зайвих перезавантажень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6492240" y="4690872"/>
            <a:ext cx="502920" cy="502920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7B51B3">
                <a:alpha val="35000"/>
              </a:srgbClr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11112" y="4809744"/>
            <a:ext cx="274320" cy="27432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132320" y="467258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400" dirty="0"/>
          </a:p>
        </p:txBody>
      </p:sp>
      <p:sp>
        <p:nvSpPr>
          <p:cNvPr id="34" name="Text 25"/>
          <p:cNvSpPr/>
          <p:nvPr/>
        </p:nvSpPr>
        <p:spPr>
          <a:xfrm>
            <a:off x="7132320" y="49834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Автоматичне тестування та безперервна доставка оновлень</a:t>
            </a:r>
            <a:endParaRPr lang="en-US" sz="1100" dirty="0"/>
          </a:p>
        </p:txBody>
      </p:sp>
      <p:sp>
        <p:nvSpPr>
          <p:cNvPr id="35" name="Text 26"/>
          <p:cNvSpPr/>
          <p:nvPr/>
        </p:nvSpPr>
        <p:spPr>
          <a:xfrm>
            <a:off x="6492240" y="55229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Спрощена архітектура</a:t>
            </a:r>
            <a:endParaRPr lang="en-US" sz="1300" dirty="0"/>
          </a:p>
        </p:txBody>
      </p:sp>
      <p:sp>
        <p:nvSpPr>
          <p:cNvPr id="36" name="Shape 27"/>
          <p:cNvSpPr/>
          <p:nvPr/>
        </p:nvSpPr>
        <p:spPr>
          <a:xfrm>
            <a:off x="6492240" y="5888736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7B51B3">
                <a:alpha val="40000"/>
              </a:srgbClr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6492240" y="5888736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65008" y="6071616"/>
            <a:ext cx="219456" cy="219456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8275320" y="5888736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7B51B3">
                <a:alpha val="40000"/>
              </a:srgbClr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8275320" y="5888736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48088" y="6071616"/>
            <a:ext cx="219456" cy="219456"/>
          </a:xfrm>
          <a:prstGeom prst="rect">
            <a:avLst/>
          </a:prstGeom>
        </p:spPr>
      </p:pic>
      <p:sp>
        <p:nvSpPr>
          <p:cNvPr id="42" name="Shape 31"/>
          <p:cNvSpPr/>
          <p:nvPr/>
        </p:nvSpPr>
        <p:spPr>
          <a:xfrm>
            <a:off x="10058400" y="5888736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7B51B3">
                <a:alpha val="40000"/>
              </a:srgbClr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10058400" y="5888736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TM03457515[[fn=Краєвид]]</Template>
  <TotalTime>824</TotalTime>
  <Words>433</Words>
  <Application>Microsoft Office PowerPoint</Application>
  <PresentationFormat>Широкий екран</PresentationFormat>
  <Paragraphs>130</Paragraphs>
  <Slides>5</Slides>
  <Notes>5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Avyro Pitch Deck</dc:title>
  <dc:subject>PptxGenJS Presentation</dc:subject>
  <dc:creator>Avyro</dc:creator>
  <cp:lastModifiedBy>Олександр Гелеван</cp:lastModifiedBy>
  <cp:revision>3</cp:revision>
  <dcterms:created xsi:type="dcterms:W3CDTF">2026-06-11T19:39:12Z</dcterms:created>
  <dcterms:modified xsi:type="dcterms:W3CDTF">2026-06-12T21:49:21Z</dcterms:modified>
</cp:coreProperties>
</file>